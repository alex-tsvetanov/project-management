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DD7EE"/>
                </a:solidFill>
                <a:latin typeface="Calibri"/>
              </a:rPr>
              <a:t>Упражнение 1 · Раздел 1.1 · Описание на идеята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Интердисциплинарна STEM среда в СМГ (Софийска математическа гимназия)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Направления на STEM центъра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11880" cy="1874519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82296" cy="187451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3337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75B6"/>
                </a:solidFill>
                <a:latin typeface="Calibri"/>
              </a:rPr>
              <a:t>Направление 1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Математика и информатика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Програмиране, анализ на данни, ML модели; общ фокус за всички предмети.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4820" y="1737360"/>
            <a:ext cx="3611880" cy="1874519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4820" y="1737360"/>
            <a:ext cx="82296" cy="187451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7700" y="1810512"/>
            <a:ext cx="3337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75B6"/>
                </a:solidFill>
                <a:latin typeface="Calibri"/>
              </a:rPr>
              <a:t>Направление 2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Роботика и кибер-физични системи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IoT устройства, сензори, учебни дронове, колесни роботи и роботизирана ръка.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737360"/>
            <a:ext cx="3611880" cy="1874519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737360"/>
            <a:ext cx="82296" cy="187451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810512"/>
            <a:ext cx="3337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75B6"/>
                </a:solidFill>
                <a:latin typeface="Calibri"/>
              </a:rPr>
              <a:t>Направление 3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Природни науки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Лабораторни сензори, интелигентна оранжерия (Smart Greenhouse), наблюдения и измервания.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Специализирано оборудване и пространство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04040"/>
                </a:solidFill>
                <a:latin typeface="Calibri"/>
              </a:rPr>
              <a:t>Закупуване на оборудване за STEM: </a:t>
            </a:r>
            <a:r>
              <a:rPr sz="1250" b="0">
                <a:solidFill>
                  <a:srgbClr val="404040"/>
                </a:solidFill>
                <a:latin typeface="Calibri"/>
              </a:rPr>
              <a:t>да, основно за трите направления (минимум 45% от средствата за STEM).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404040"/>
                </a:solidFill>
                <a:latin typeface="Calibri"/>
              </a:rPr>
              <a:t>Специализирано оборудване (до 20%): </a:t>
            </a:r>
            <a:r>
              <a:rPr sz="1250" b="0">
                <a:solidFill>
                  <a:srgbClr val="404040"/>
                </a:solidFill>
                <a:latin typeface="Calibri"/>
              </a:rPr>
              <a:t>само ако се налага за Направление 3 – например калибровъчни сензори за лаборатория по природни науки.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404040"/>
                </a:solidFill>
                <a:latin typeface="Calibri"/>
              </a:rPr>
              <a:t>Пространство: </a:t>
            </a:r>
            <a:r>
              <a:rPr sz="1250" b="0">
                <a:solidFill>
                  <a:srgbClr val="404040"/>
                </a:solidFill>
                <a:latin typeface="Calibri"/>
              </a:rPr>
              <a:t>гъвкави мебели и подвижни работни маси за работа по групи, отделна зона за презентации и място за учителите.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404040"/>
                </a:solidFill>
                <a:latin typeface="Calibri"/>
              </a:rPr>
              <a:t>Профил на училището: </a:t>
            </a:r>
            <a:r>
              <a:rPr sz="1250" b="0">
                <a:solidFill>
                  <a:srgbClr val="404040"/>
                </a:solidFill>
                <a:latin typeface="Calibri"/>
              </a:rPr>
              <a:t>математика и информатика – силна база за Направление 1; за Направления 2 и 3 се проверява с НЕИСПУО.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94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4 учебни предмета с интегрирано преподаване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279392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0624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04040"/>
                </a:solidFill>
                <a:latin typeface="Calibri"/>
              </a:rPr>
              <a:t>Информатика и ИТ: </a:t>
            </a:r>
            <a:r>
              <a:rPr sz="1250" b="0">
                <a:solidFill>
                  <a:srgbClr val="404040"/>
                </a:solidFill>
                <a:latin typeface="Calibri"/>
              </a:rPr>
              <a:t>програмиране на контролери, обработка на данни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736592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66344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04040"/>
                </a:solidFill>
                <a:latin typeface="Calibri"/>
              </a:rPr>
              <a:t>Математика: </a:t>
            </a:r>
            <a:r>
              <a:rPr sz="1250" b="0">
                <a:solidFill>
                  <a:srgbClr val="404040"/>
                </a:solidFill>
                <a:latin typeface="Calibri"/>
              </a:rPr>
              <a:t>статистика, моделиране, оптимизация на параметри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5193792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12064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04040"/>
                </a:solidFill>
                <a:latin typeface="Calibri"/>
              </a:rPr>
              <a:t>Физика: </a:t>
            </a:r>
            <a:r>
              <a:rPr sz="1250" b="0">
                <a:solidFill>
                  <a:srgbClr val="404040"/>
                </a:solidFill>
                <a:latin typeface="Calibri"/>
              </a:rPr>
              <a:t>електрически вериги, сензори, механика на роботи и дронове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650992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57784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04040"/>
                </a:solidFill>
                <a:latin typeface="Calibri"/>
              </a:rPr>
              <a:t>Биология и здравно образование: </a:t>
            </a:r>
            <a:r>
              <a:rPr sz="1250" b="0">
                <a:solidFill>
                  <a:srgbClr val="404040"/>
                </a:solidFill>
                <a:latin typeface="Calibri"/>
              </a:rPr>
              <a:t>растеж на растенията, условия на средата, наблюдения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08080"/>
                </a:solidFill>
                <a:latin typeface="Calibri"/>
              </a:rPr>
              <a:t>Пример: Smart Greenhouse → IoT сензори (Физика) → температура и влажност (Биология) → анализ и ML прогноза (Математика, Информатика)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DD7EE"/>
                </a:solidFill>
                <a:latin typeface="Calibri"/>
              </a:rPr>
              <a:t>Упражнение 1 · Раздел 1.2 · SMART цели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SMART цели на проекта за STEM среда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75B6"/>
                </a:solidFill>
                <a:latin typeface="Calibri"/>
              </a:rPr>
              <a:t>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75B6"/>
                </a:solidFill>
                <a:latin typeface="Calibri"/>
              </a:rPr>
              <a:t>Критерий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75B6"/>
                </a:solidFill>
                <a:latin typeface="Calibri"/>
              </a:rPr>
              <a:t>Формулировка за проекта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19072"/>
            <a:ext cx="11274552" cy="676656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10512"/>
            <a:ext cx="493776" cy="49377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19072"/>
            <a:ext cx="23774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Specific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719072"/>
            <a:ext cx="7955279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Да се изгради STEM среда с 3 направления (Математика и информатика, Роботика и кибер-физични системи, Природни науки), която решава проблема с изолирани лаборатории и ниско използване на оборудването.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79"/>
            <a:ext cx="11274552" cy="1252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848356"/>
            <a:ext cx="493776" cy="49377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48356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468879"/>
            <a:ext cx="2377440" cy="1252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Measurable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68879"/>
            <a:ext cx="7955279" cy="1252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• ≥ 4 интегрирани учебни предмета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• ≥ 6 интердисциплинарни STEM сценария за учебната година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• ≥ 70% заетост на оборудването (отчет от график на ползване)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• ≥ 2 приложения на AI в обучението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• ≥ 200 ученици годишно могат да работят едновременно в средата (по график)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59"/>
            <a:ext cx="11274552" cy="93268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014215"/>
            <a:ext cx="493776" cy="49377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14215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94759"/>
            <a:ext cx="237744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Achievable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94759"/>
            <a:ext cx="795527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Финансиране в рамките на лимита за STEM средства (ориентировъчно ~300 000 лв. с ДДС); 6 учители, обучени за работа с оборудването през първата година; назначени отговорни лица: ръководител и координатор по STEM.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00600"/>
            <a:ext cx="11274552" cy="7955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951475"/>
            <a:ext cx="493776" cy="49377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51475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800600"/>
            <a:ext cx="237744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Relevant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800600"/>
            <a:ext cx="7955279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Развива STEM компетентности и интердисциплинарно мислене; свързва учебното съдържание с реални проекти (IoT, данни, AI) и подкрепя иновативното преподаване.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69280"/>
            <a:ext cx="11274552" cy="7955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5820156"/>
            <a:ext cx="493776" cy="49377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20156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669280"/>
            <a:ext cx="237744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Time-bound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669280"/>
            <a:ext cx="7955279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404040"/>
                </a:solidFill>
                <a:latin typeface="Calibri"/>
              </a:rPr>
              <a:t>Март – август 2027: проектиране и СМР; септември 2027: въвеждане в експлоатация и първи сценарии; юни 2028: оценка на резултатите с модела STEM Integration Score.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08080"/>
                </a:solidFill>
                <a:latin typeface="Calibri"/>
              </a:rPr>
              <a:t>Стойностите в M и A са ориентировъчни и се уточняват по данните на конкретното училище (брой ученици, учители, одобрен бюджет).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