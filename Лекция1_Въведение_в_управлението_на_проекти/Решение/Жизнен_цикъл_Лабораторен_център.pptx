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Упражнението: да се дефинира жизненият цикъл на проект от реален сценарий и да се представи пред групата.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Жизнен цикъл на проект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05740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Изграждане на нов лабораторен център за роботика и изкуствен интелект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114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Упражнение 1 · Технически университет София · Лекция 1: Въведение в управлението на проекти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Сценарий 1: Лабораторен център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Техническият университет София планира да изгради нов лабораторен център с иновативно оборудване за изследвания в областта на роботиката и изкуствения интелект. Центърът ще бъде достъпен за студенти, преподаватели и изследователи.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2148840"/>
            <a:ext cx="1874520" cy="2697480"/>
          </a:xfrm>
          <a:prstGeom prst="roundRect">
            <a:avLst>
              <a:gd name="adj" fmla="val 4878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23317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2834640"/>
            <a:ext cx="157276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Модерна лаборатория за роботика и изкуствен интелект, която подпомага изследванията и обучението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514600" y="2148840"/>
            <a:ext cx="1874520" cy="2697480"/>
          </a:xfrm>
          <a:prstGeom prst="roundRect">
            <a:avLst>
              <a:gd name="adj" fmla="val 4878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679192" y="23317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Срок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2679192" y="2834640"/>
            <a:ext cx="157276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месеца от стартиране до завършване на проекта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0" y="2148840"/>
            <a:ext cx="1874520" cy="2697480"/>
          </a:xfrm>
          <a:prstGeom prst="roundRect">
            <a:avLst>
              <a:gd name="adj" fmla="val 4878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736592" y="23317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Екип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736592" y="2834640"/>
            <a:ext cx="157276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Ръководител на проекта, архитекти, инженери, IT специалисти и представители на академичния персонал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629400" y="2148840"/>
            <a:ext cx="1874520" cy="2697480"/>
          </a:xfrm>
          <a:prstGeom prst="roundRect">
            <a:avLst>
              <a:gd name="adj" fmla="val 4878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793992" y="23317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Изисквания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793992" y="2834640"/>
            <a:ext cx="157276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Проектиране на пространството, оборудване, мрежова инфраструктура, обучение, безопасност и нормативи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Жизнен цикъл: 5 фази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97280" y="1874520"/>
            <a:ext cx="6583680" cy="0"/>
          </a:xfrm>
          <a:prstGeom prst="line">
            <a:avLst/>
          </a:prstGeom>
          <a:noFill/>
          <a:ln w="25400">
            <a:solidFill>
              <a:srgbClr val="C9D2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463040"/>
            <a:ext cx="822960" cy="822960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4630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274320" y="24688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Дефиниране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274320" y="306324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Цели, обхват, екип и изисквания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331720" y="1463040"/>
            <a:ext cx="822960" cy="822960"/>
          </a:xfrm>
          <a:prstGeom prst="ellipse">
            <a:avLst/>
          </a:prstGeom>
          <a:solidFill>
            <a:srgbClr val="2A4A8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331720" y="14630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1920240" y="24688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Планиране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920240" y="306324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График, ресурси, бюджет и проектиране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977640" y="1463040"/>
            <a:ext cx="822960" cy="822960"/>
          </a:xfrm>
          <a:prstGeom prst="ellipse">
            <a:avLst/>
          </a:prstGeom>
          <a:solidFill>
            <a:srgbClr val="02809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977640" y="14630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3566160" y="24688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Изпълнение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566160" y="306324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Строителство, доставка, монтаж и обучение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623560" y="1463040"/>
            <a:ext cx="822960" cy="822960"/>
          </a:xfrm>
          <a:prstGeom prst="ellipse">
            <a:avLst/>
          </a:prstGeom>
          <a:solidFill>
            <a:srgbClr val="0F6E7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623560" y="14630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5212080" y="24688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Мониторинг и контрол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212080" y="306324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Контрол на срокове, бюджет, качество и рискове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269480" y="1463040"/>
            <a:ext cx="822960" cy="822960"/>
          </a:xfrm>
          <a:prstGeom prst="ellipse">
            <a:avLst/>
          </a:prstGeom>
          <a:solidFill>
            <a:srgbClr val="5B647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269480" y="14630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0" y="24688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Закриване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858000" y="306324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Приемане, предаване, финален отчет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Фаза 4 не е част от примерния сценарий, но упражнението изисква пет фази.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Фаза 1: Дефиниране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Какво точно ще се построи, за кого и кой отговаря за него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931920" cy="1463040"/>
          </a:xfrm>
          <a:prstGeom prst="roundRect">
            <a:avLst>
              <a:gd name="adj" fmla="val 6250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6002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Цели и обхват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01168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Основни функции на лабораторията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Целеви потребители: студенти, преподаватели, изследователи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463040"/>
            <a:ext cx="3931920" cy="1463040"/>
          </a:xfrm>
          <a:prstGeom prst="roundRect">
            <a:avLst>
              <a:gd name="adj" fmla="val 6250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983480" y="16002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Проектен екип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983480" y="201168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Назначаване на ръководител на проекта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Разпределение на роли: архитекти, инженери, IT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063240"/>
            <a:ext cx="3931920" cy="1463040"/>
          </a:xfrm>
          <a:prstGeom prst="roundRect">
            <a:avLst>
              <a:gd name="adj" fmla="val 6250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32004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Заинтересовани страни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361188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Ректорат и финансов отдел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Академичен персонал и служби по безопасност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754880" y="3063240"/>
            <a:ext cx="3931920" cy="1463040"/>
          </a:xfrm>
          <a:prstGeom prst="roundRect">
            <a:avLst>
              <a:gd name="adj" fmla="val 6250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983480" y="32004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Анализ на изискванията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983480" y="361188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Нужди на изследователите и оборудване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Мрежа, електрозахранване, климатизация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64515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Резултат: 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устав на проекта с цели, обхват, екип и заинтересовани страни.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Фаза 2: Планиране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Подробен план за времето, ресурсите и техническото решение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931920" cy="1463040"/>
          </a:xfrm>
          <a:prstGeom prst="roundRect">
            <a:avLst>
              <a:gd name="adj" fmla="val 6250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6002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Проектен план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01168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График с ключови етапи и срокове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Разпределение на ресурси и бюджет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463040"/>
            <a:ext cx="3931920" cy="1463040"/>
          </a:xfrm>
          <a:prstGeom prst="roundRect">
            <a:avLst>
              <a:gd name="adj" fmla="val 6250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983480" y="16002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Технически спецификации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983480" y="201168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Избор на оборудване и технологии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Архитектурен и инженерен проект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063240"/>
            <a:ext cx="3931920" cy="1463040"/>
          </a:xfrm>
          <a:prstGeom prst="roundRect">
            <a:avLst>
              <a:gd name="adj" fmla="val 6250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32004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Дизайн на пространството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361188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Зониране: роботика, ИИ, работни места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Схеми за електрически и мрежови трасета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754880" y="3063240"/>
            <a:ext cx="3931920" cy="1463040"/>
          </a:xfrm>
          <a:prstGeom prst="roundRect">
            <a:avLst>
              <a:gd name="adj" fmla="val 6250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983480" y="32004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Качество и безопасност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983480" y="361188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Критерии за приемане на оборудването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 за безопасност и нормативни изисквания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64515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Резултат: 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одобрен базов план (baseline) за график, бюджет и обхват.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Фаза 3: Изпълнение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Изпълнение на плана: строеж, оборудване, системи и обучение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931920" cy="1463040"/>
          </a:xfrm>
          <a:prstGeom prst="roundRect">
            <a:avLst>
              <a:gd name="adj" fmla="val 6250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6002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Строителство и ремонт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01168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Адаптиране на помещенията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Електрически и климатични инсталации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463040"/>
            <a:ext cx="3931920" cy="1463040"/>
          </a:xfrm>
          <a:prstGeom prst="roundRect">
            <a:avLst>
              <a:gd name="adj" fmla="val 6250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983480" y="16002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Оборудване и монтаж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983480" y="201168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Доставка, инсталиране и калибриране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Тестване на роботи и изчислителни системи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063240"/>
            <a:ext cx="3931920" cy="1463040"/>
          </a:xfrm>
          <a:prstGeom prst="roundRect">
            <a:avLst>
              <a:gd name="adj" fmla="val 6250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32004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Мрежа и IT системи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361188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Мрежова инфраструктура и достъп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Интеграция с университетските системи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754880" y="3063240"/>
            <a:ext cx="3931920" cy="1463040"/>
          </a:xfrm>
          <a:prstGeom prst="roundRect">
            <a:avLst>
              <a:gd name="adj" fmla="val 6250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983480" y="32004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Обучение и координация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983480" y="361188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Обучение на персонала по безопасност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Седмични срещи и отчети за напредъка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64515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Резултат: 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завършена лаборатория, готова за приемане и тестване.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Фаза 4: Мониторинг и контрол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Непрекъснато проследяване на срокове, бюджет, качество и рискове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931920" cy="1463040"/>
          </a:xfrm>
          <a:prstGeom prst="roundRect">
            <a:avLst>
              <a:gd name="adj" fmla="val 6250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6002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Срокове и бюджет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01168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Месечно сравнение с базовия план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Ранно откриване на отклонения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463040"/>
            <a:ext cx="3931920" cy="1463040"/>
          </a:xfrm>
          <a:prstGeom prst="roundRect">
            <a:avLst>
              <a:gd name="adj" fmla="val 6250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983480" y="16002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Контрол на качеството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983480" y="201168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Приемни тестове на оборудването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Проверки на инсталациите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063240"/>
            <a:ext cx="3931920" cy="1463040"/>
          </a:xfrm>
          <a:prstGeom prst="roundRect">
            <a:avLst>
              <a:gd name="adj" fmla="val 6250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32004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Управление на рисковете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361188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Регистър на рисковете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Примери: закъснение на доставки, поскъпване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754880" y="3063240"/>
            <a:ext cx="3931920" cy="1463040"/>
          </a:xfrm>
          <a:prstGeom prst="roundRect">
            <a:avLst>
              <a:gd name="adj" fmla="val 6250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983480" y="32004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Управление на промените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983480" y="361188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Всяка промяна в обхвата се одобрява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Отчет до ръководството на всеки 3 месеца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64515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Резултат: 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навременни решения, контролиран бюджет и график.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Фаза 5: Закриване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Приемане, предаване и официално приключване на проекта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931920" cy="1463040"/>
          </a:xfrm>
          <a:prstGeom prst="roundRect">
            <a:avLst>
              <a:gd name="adj" fmla="val 6250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6002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Финално приемане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01168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Тестване на всички системи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Подписани протоколи за приемане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463040"/>
            <a:ext cx="3931920" cy="1463040"/>
          </a:xfrm>
          <a:prstGeom prst="roundRect">
            <a:avLst>
              <a:gd name="adj" fmla="val 6250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983480" y="16002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Предаване на лабораторията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983480" y="201168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Ключове, документация и ръководства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Отваряне за студенти и изследователи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063240"/>
            <a:ext cx="3931920" cy="1463040"/>
          </a:xfrm>
          <a:prstGeom prst="roundRect">
            <a:avLst>
              <a:gd name="adj" fmla="val 6250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32004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Обучение на потребителите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361188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Обучение за работа с оборудването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Помощни материали и правила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754880" y="3063240"/>
            <a:ext cx="3931920" cy="1463040"/>
          </a:xfrm>
          <a:prstGeom prst="roundRect">
            <a:avLst>
              <a:gd name="adj" fmla="val 6250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983480" y="32004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Финален отчет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983480" y="361188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Сравнение: бюджет, срокове, обхват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Поуки за бъдещи проекти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64515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Резултат: 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приключен проект, предаден на университета, с документирани поуки.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Времеви график (18 месеца)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3108960" y="1234440"/>
            <a:ext cx="301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3410712" y="1234440"/>
            <a:ext cx="301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3712464" y="1234440"/>
            <a:ext cx="301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014216" y="1234440"/>
            <a:ext cx="301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М4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315968" y="1234440"/>
            <a:ext cx="301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М5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4617720" y="1234440"/>
            <a:ext cx="301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М6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4919472" y="1234440"/>
            <a:ext cx="301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М7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221224" y="1234440"/>
            <a:ext cx="301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М8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522976" y="1234440"/>
            <a:ext cx="301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М9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5824728" y="1234440"/>
            <a:ext cx="301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М10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126480" y="1234440"/>
            <a:ext cx="301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М11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428232" y="1234440"/>
            <a:ext cx="301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М12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729984" y="1234440"/>
            <a:ext cx="301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М13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7031736" y="1234440"/>
            <a:ext cx="301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М14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7333488" y="1234440"/>
            <a:ext cx="301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М15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7635240" y="1234440"/>
            <a:ext cx="301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М16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7936992" y="1234440"/>
            <a:ext cx="301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М17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8238744" y="1234440"/>
            <a:ext cx="301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М18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108960" y="1600200"/>
            <a:ext cx="0" cy="3200400"/>
          </a:xfrm>
          <a:prstGeom prst="line">
            <a:avLst/>
          </a:prstGeom>
          <a:noFill/>
          <a:ln w="9525">
            <a:solidFill>
              <a:srgbClr val="E3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10712" y="1600200"/>
            <a:ext cx="0" cy="3200400"/>
          </a:xfrm>
          <a:prstGeom prst="line">
            <a:avLst/>
          </a:prstGeom>
          <a:noFill/>
          <a:ln w="9525">
            <a:solidFill>
              <a:srgbClr val="E3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12464" y="1600200"/>
            <a:ext cx="0" cy="3200400"/>
          </a:xfrm>
          <a:prstGeom prst="line">
            <a:avLst/>
          </a:prstGeom>
          <a:noFill/>
          <a:ln w="9525">
            <a:solidFill>
              <a:srgbClr val="E3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014216" y="1600200"/>
            <a:ext cx="0" cy="3200400"/>
          </a:xfrm>
          <a:prstGeom prst="line">
            <a:avLst/>
          </a:prstGeom>
          <a:noFill/>
          <a:ln w="9525">
            <a:solidFill>
              <a:srgbClr val="E3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15968" y="1600200"/>
            <a:ext cx="0" cy="3200400"/>
          </a:xfrm>
          <a:prstGeom prst="line">
            <a:avLst/>
          </a:prstGeom>
          <a:noFill/>
          <a:ln w="9525">
            <a:solidFill>
              <a:srgbClr val="E3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17720" y="1600200"/>
            <a:ext cx="0" cy="3200400"/>
          </a:xfrm>
          <a:prstGeom prst="line">
            <a:avLst/>
          </a:prstGeom>
          <a:noFill/>
          <a:ln w="9525">
            <a:solidFill>
              <a:srgbClr val="E3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919472" y="1600200"/>
            <a:ext cx="0" cy="3200400"/>
          </a:xfrm>
          <a:prstGeom prst="line">
            <a:avLst/>
          </a:prstGeom>
          <a:noFill/>
          <a:ln w="9525">
            <a:solidFill>
              <a:srgbClr val="E3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221224" y="1600200"/>
            <a:ext cx="0" cy="3200400"/>
          </a:xfrm>
          <a:prstGeom prst="line">
            <a:avLst/>
          </a:prstGeom>
          <a:noFill/>
          <a:ln w="9525">
            <a:solidFill>
              <a:srgbClr val="E3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522976" y="1600200"/>
            <a:ext cx="0" cy="3200400"/>
          </a:xfrm>
          <a:prstGeom prst="line">
            <a:avLst/>
          </a:prstGeom>
          <a:noFill/>
          <a:ln w="9525">
            <a:solidFill>
              <a:srgbClr val="E3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24728" y="1600200"/>
            <a:ext cx="0" cy="3200400"/>
          </a:xfrm>
          <a:prstGeom prst="line">
            <a:avLst/>
          </a:prstGeom>
          <a:noFill/>
          <a:ln w="9525">
            <a:solidFill>
              <a:srgbClr val="E3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26480" y="1600200"/>
            <a:ext cx="0" cy="3200400"/>
          </a:xfrm>
          <a:prstGeom prst="line">
            <a:avLst/>
          </a:prstGeom>
          <a:noFill/>
          <a:ln w="9525">
            <a:solidFill>
              <a:srgbClr val="E3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28232" y="1600200"/>
            <a:ext cx="0" cy="3200400"/>
          </a:xfrm>
          <a:prstGeom prst="line">
            <a:avLst/>
          </a:prstGeom>
          <a:noFill/>
          <a:ln w="9525">
            <a:solidFill>
              <a:srgbClr val="E3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729984" y="1600200"/>
            <a:ext cx="0" cy="3200400"/>
          </a:xfrm>
          <a:prstGeom prst="line">
            <a:avLst/>
          </a:prstGeom>
          <a:noFill/>
          <a:ln w="9525">
            <a:solidFill>
              <a:srgbClr val="E3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031736" y="1600200"/>
            <a:ext cx="0" cy="3200400"/>
          </a:xfrm>
          <a:prstGeom prst="line">
            <a:avLst/>
          </a:prstGeom>
          <a:noFill/>
          <a:ln w="9525">
            <a:solidFill>
              <a:srgbClr val="E3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333488" y="1600200"/>
            <a:ext cx="0" cy="3200400"/>
          </a:xfrm>
          <a:prstGeom prst="line">
            <a:avLst/>
          </a:prstGeom>
          <a:noFill/>
          <a:ln w="9525">
            <a:solidFill>
              <a:srgbClr val="E3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635240" y="1600200"/>
            <a:ext cx="0" cy="3200400"/>
          </a:xfrm>
          <a:prstGeom prst="line">
            <a:avLst/>
          </a:prstGeom>
          <a:noFill/>
          <a:ln w="9525">
            <a:solidFill>
              <a:srgbClr val="E3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936992" y="1600200"/>
            <a:ext cx="0" cy="3200400"/>
          </a:xfrm>
          <a:prstGeom prst="line">
            <a:avLst/>
          </a:prstGeom>
          <a:noFill/>
          <a:ln w="9525">
            <a:solidFill>
              <a:srgbClr val="E3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238744" y="1600200"/>
            <a:ext cx="0" cy="3200400"/>
          </a:xfrm>
          <a:prstGeom prst="line">
            <a:avLst/>
          </a:prstGeom>
          <a:noFill/>
          <a:ln w="9525">
            <a:solidFill>
              <a:srgbClr val="E3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540496" y="1600200"/>
            <a:ext cx="0" cy="3200400"/>
          </a:xfrm>
          <a:prstGeom prst="line">
            <a:avLst/>
          </a:prstGeom>
          <a:noFill/>
          <a:ln w="9525">
            <a:solidFill>
              <a:srgbClr val="E3E8F0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57200" y="16002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Дефиниране (М1–М2)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3127248" y="1709928"/>
            <a:ext cx="566928" cy="237744"/>
          </a:xfrm>
          <a:prstGeom prst="roundRect">
            <a:avLst>
              <a:gd name="adj" fmla="val 2307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457200" y="20574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Планиране (М3–М5)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3730752" y="2167128"/>
            <a:ext cx="868680" cy="237744"/>
          </a:xfrm>
          <a:prstGeom prst="roundRect">
            <a:avLst>
              <a:gd name="adj" fmla="val 23077"/>
            </a:avLst>
          </a:prstGeom>
          <a:solidFill>
            <a:srgbClr val="2A4A8A"/>
          </a:solidFill>
          <a:ln w="12700">
            <a:solidFill>
              <a:srgbClr val="2A4A8A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457200" y="25146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Строителство (М6–М10)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4636008" y="2624328"/>
            <a:ext cx="1472184" cy="237744"/>
          </a:xfrm>
          <a:prstGeom prst="roundRect">
            <a:avLst>
              <a:gd name="adj" fmla="val 23077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457200" y="29718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Оборудване и мрежа (М9–М14)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5541264" y="3081528"/>
            <a:ext cx="1773936" cy="237744"/>
          </a:xfrm>
          <a:prstGeom prst="roundRect">
            <a:avLst>
              <a:gd name="adj" fmla="val 23077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457200" y="34290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Обучение (М14–М15)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7050024" y="3538728"/>
            <a:ext cx="566928" cy="237744"/>
          </a:xfrm>
          <a:prstGeom prst="roundRect">
            <a:avLst>
              <a:gd name="adj" fmla="val 23077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457200" y="38862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Мониторинг и контрол (М1–М18)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3127248" y="3995928"/>
            <a:ext cx="5394960" cy="237744"/>
          </a:xfrm>
          <a:prstGeom prst="roundRect">
            <a:avLst>
              <a:gd name="adj" fmla="val 23077"/>
            </a:avLst>
          </a:prstGeom>
          <a:solidFill>
            <a:srgbClr val="0F6E7A"/>
          </a:solidFill>
          <a:ln w="12700">
            <a:solidFill>
              <a:srgbClr val="0F6E7A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457200" y="43434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Закриване (М16–М18)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7653528" y="4453128"/>
            <a:ext cx="868680" cy="237744"/>
          </a:xfrm>
          <a:prstGeom prst="roundRect">
            <a:avLst>
              <a:gd name="adj" fmla="val 23077"/>
            </a:avLst>
          </a:prstGeom>
          <a:solidFill>
            <a:srgbClr val="5B6472"/>
          </a:solidFill>
          <a:ln w="12700">
            <a:solidFill>
              <a:srgbClr val="5B6472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Мониторингът е непрекъснат през целия срок; фазите се припокриват при изпълнението.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Разпределение на ресурсите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188720"/>
                <a:gridCol w="1188720"/>
                <a:gridCol w="1188720"/>
                <a:gridCol w="1188720"/>
                <a:gridCol w="118872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Роля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Дефиниране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Планиране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Изпълнение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Мониторинг и контрол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Закриване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Ръководител на проекта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Висока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Висока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Висока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Висока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Висока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Архитекти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5B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Ниска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Висока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Средна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C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5B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Ниска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5B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Ниска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Инженери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5B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Ниска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Средна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C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Висока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Средна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C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Средна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CE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 специалисти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5B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Ниска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Средна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C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Висока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Средна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C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Средна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CE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Академичен персонал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Средна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C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Средна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C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5B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Ниска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5B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Ниска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Средна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CE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160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Ниво на натоварване по фази: Висока – основна дейност; Средна – регулярно участие; Ниска – консултации и контрол. Оценката е примерна и се уточнява при стартиране.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Заключение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7863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Фазите са последователни, но мониторингът работи през целия срок.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Базовият план от фаза 2 е основата за всеки контрол и отчет.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Най-голямо натоварване на екипа е по време на изпълнението.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Закриването започва с финално тестване, не с откриване.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114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Благодаря за вниманието!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Жизнен цикъл на проект – Лабораторен център</dc:title>
  <dc:subject>PptxGenJS Presentation</dc:subject>
  <dc:creator>PptxGenJS</dc:creator>
  <cp:lastModifiedBy>PptxGenJS</cp:lastModifiedBy>
  <cp:revision>1</cp:revision>
  <dcterms:created xsi:type="dcterms:W3CDTF">2026-10-14T09:31:34Z</dcterms:created>
  <dcterms:modified xsi:type="dcterms:W3CDTF">2026-10-14T09:31:34Z</dcterms:modified>
</cp:coreProperties>
</file>